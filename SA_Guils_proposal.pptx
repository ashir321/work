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78BAE-59CE-4071-7BE1-BD1E591381AA}" v="4" dt="2026-08-05T08:31:59.910"/>
    <p1510:client id="{CB8E1B80-8D29-4401-8F49-E3B482D4A75C}" v="11" dt="2026-08-05T08:39:22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ikh Ashir" userId="S::sheikh.ashir@tcgdigital.com::ae06e768-dedc-4b15-9546-cf2c9f82f6b1" providerId="AD" clId="Web-{6BC78BAE-59CE-4071-7BE1-BD1E591381AA}"/>
    <pc:docChg chg="modSld">
      <pc:chgData name="Sheikh Ashir" userId="S::sheikh.ashir@tcgdigital.com::ae06e768-dedc-4b15-9546-cf2c9f82f6b1" providerId="AD" clId="Web-{6BC78BAE-59CE-4071-7BE1-BD1E591381AA}" dt="2026-08-05T08:31:59.910" v="3" actId="20577"/>
      <pc:docMkLst>
        <pc:docMk/>
      </pc:docMkLst>
      <pc:sldChg chg="modSp">
        <pc:chgData name="Sheikh Ashir" userId="S::sheikh.ashir@tcgdigital.com::ae06e768-dedc-4b15-9546-cf2c9f82f6b1" providerId="AD" clId="Web-{6BC78BAE-59CE-4071-7BE1-BD1E591381AA}" dt="2026-08-05T08:31:59.910" v="3" actId="20577"/>
        <pc:sldMkLst>
          <pc:docMk/>
          <pc:sldMk cId="0" sldId="256"/>
        </pc:sldMkLst>
        <pc:spChg chg="mod">
          <ac:chgData name="Sheikh Ashir" userId="S::sheikh.ashir@tcgdigital.com::ae06e768-dedc-4b15-9546-cf2c9f82f6b1" providerId="AD" clId="Web-{6BC78BAE-59CE-4071-7BE1-BD1E591381AA}" dt="2026-08-05T08:31:59.910" v="3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  <pc:docChgLst>
    <pc:chgData name="Sheikh Ashir" userId="ae06e768-dedc-4b15-9546-cf2c9f82f6b1" providerId="ADAL" clId="{06F3B23A-EFCA-49B5-BB8F-7C4D733D65DD}"/>
    <pc:docChg chg="undo custSel modSld">
      <pc:chgData name="Sheikh Ashir" userId="ae06e768-dedc-4b15-9546-cf2c9f82f6b1" providerId="ADAL" clId="{06F3B23A-EFCA-49B5-BB8F-7C4D733D65DD}" dt="2026-08-05T08:39:22.311" v="142" actId="21"/>
      <pc:docMkLst>
        <pc:docMk/>
      </pc:docMkLst>
      <pc:sldChg chg="addSp modSp mod">
        <pc:chgData name="Sheikh Ashir" userId="ae06e768-dedc-4b15-9546-cf2c9f82f6b1" providerId="ADAL" clId="{06F3B23A-EFCA-49B5-BB8F-7C4D733D65DD}" dt="2026-08-05T08:39:22.311" v="142" actId="21"/>
        <pc:sldMkLst>
          <pc:docMk/>
          <pc:sldMk cId="0" sldId="262"/>
        </pc:sldMkLst>
        <pc:spChg chg="mod">
          <ac:chgData name="Sheikh Ashir" userId="ae06e768-dedc-4b15-9546-cf2c9f82f6b1" providerId="ADAL" clId="{06F3B23A-EFCA-49B5-BB8F-7C4D733D65DD}" dt="2026-08-05T08:39:22.311" v="142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Sheikh Ashir" userId="ae06e768-dedc-4b15-9546-cf2c9f82f6b1" providerId="ADAL" clId="{06F3B23A-EFCA-49B5-BB8F-7C4D733D65DD}" dt="2026-08-05T08:39:16.379" v="140" actId="767"/>
          <ac:spMkLst>
            <pc:docMk/>
            <pc:sldMk cId="0" sldId="262"/>
            <ac:spMk id="12" creationId="{663D5877-40DE-8D19-4C2B-7EA5C92014F1}"/>
          </ac:spMkLst>
        </pc:spChg>
      </pc:sldChg>
      <pc:sldChg chg="addSp delSp modSp mod">
        <pc:chgData name="Sheikh Ashir" userId="ae06e768-dedc-4b15-9546-cf2c9f82f6b1" providerId="ADAL" clId="{06F3B23A-EFCA-49B5-BB8F-7C4D733D65DD}" dt="2026-08-05T08:25:37.766" v="117" actId="20577"/>
        <pc:sldMkLst>
          <pc:docMk/>
          <pc:sldMk cId="0" sldId="266"/>
        </pc:sldMkLst>
        <pc:spChg chg="mod">
          <ac:chgData name="Sheikh Ashir" userId="ae06e768-dedc-4b15-9546-cf2c9f82f6b1" providerId="ADAL" clId="{06F3B23A-EFCA-49B5-BB8F-7C4D733D65DD}" dt="2026-08-05T08:25:37.766" v="117" actId="20577"/>
          <ac:spMkLst>
            <pc:docMk/>
            <pc:sldMk cId="0" sldId="266"/>
            <ac:spMk id="28" creationId="{00000000-0000-0000-0000-000000000000}"/>
          </ac:spMkLst>
        </pc:spChg>
        <pc:spChg chg="add del mod">
          <ac:chgData name="Sheikh Ashir" userId="ae06e768-dedc-4b15-9546-cf2c9f82f6b1" providerId="ADAL" clId="{06F3B23A-EFCA-49B5-BB8F-7C4D733D65DD}" dt="2026-08-05T08:19:38.693" v="6"/>
          <ac:spMkLst>
            <pc:docMk/>
            <pc:sldMk cId="0" sldId="266"/>
            <ac:spMk id="32" creationId="{28136FF8-3086-5A83-F2A0-C540678DF12C}"/>
          </ac:spMkLst>
        </pc:spChg>
        <pc:spChg chg="add del mod">
          <ac:chgData name="Sheikh Ashir" userId="ae06e768-dedc-4b15-9546-cf2c9f82f6b1" providerId="ADAL" clId="{06F3B23A-EFCA-49B5-BB8F-7C4D733D65DD}" dt="2026-08-05T08:19:48.867" v="11"/>
          <ac:spMkLst>
            <pc:docMk/>
            <pc:sldMk cId="0" sldId="266"/>
            <ac:spMk id="33" creationId="{7496A999-82A0-0D6B-714F-57E7C88B5B56}"/>
          </ac:spMkLst>
        </pc:spChg>
        <pc:spChg chg="add del mod">
          <ac:chgData name="Sheikh Ashir" userId="ae06e768-dedc-4b15-9546-cf2c9f82f6b1" providerId="ADAL" clId="{06F3B23A-EFCA-49B5-BB8F-7C4D733D65DD}" dt="2026-08-05T08:21:17.803" v="58"/>
          <ac:spMkLst>
            <pc:docMk/>
            <pc:sldMk cId="0" sldId="266"/>
            <ac:spMk id="34" creationId="{45C09220-445D-AA8A-77EA-48DE9D67A604}"/>
          </ac:spMkLst>
        </pc:spChg>
        <pc:spChg chg="add del mod">
          <ac:chgData name="Sheikh Ashir" userId="ae06e768-dedc-4b15-9546-cf2c9f82f6b1" providerId="ADAL" clId="{06F3B23A-EFCA-49B5-BB8F-7C4D733D65DD}" dt="2026-08-05T08:21:48.970" v="64"/>
          <ac:spMkLst>
            <pc:docMk/>
            <pc:sldMk cId="0" sldId="266"/>
            <ac:spMk id="35" creationId="{F5AAA72E-8B8D-B005-7DDE-42E21F44BE90}"/>
          </ac:spMkLst>
        </pc:spChg>
        <pc:spChg chg="add del mod">
          <ac:chgData name="Sheikh Ashir" userId="ae06e768-dedc-4b15-9546-cf2c9f82f6b1" providerId="ADAL" clId="{06F3B23A-EFCA-49B5-BB8F-7C4D733D65DD}" dt="2026-08-05T08:22:22.155" v="68"/>
          <ac:spMkLst>
            <pc:docMk/>
            <pc:sldMk cId="0" sldId="266"/>
            <ac:spMk id="36" creationId="{3CD665DE-B03F-6A22-DACD-E235BCDBD009}"/>
          </ac:spMkLst>
        </pc:spChg>
      </pc:sldChg>
      <pc:sldChg chg="modSp mod">
        <pc:chgData name="Sheikh Ashir" userId="ae06e768-dedc-4b15-9546-cf2c9f82f6b1" providerId="ADAL" clId="{06F3B23A-EFCA-49B5-BB8F-7C4D733D65DD}" dt="2026-08-05T08:27:56.801" v="137" actId="1036"/>
        <pc:sldMkLst>
          <pc:docMk/>
          <pc:sldMk cId="0" sldId="267"/>
        </pc:sldMkLst>
        <pc:spChg chg="mod">
          <ac:chgData name="Sheikh Ashir" userId="ae06e768-dedc-4b15-9546-cf2c9f82f6b1" providerId="ADAL" clId="{06F3B23A-EFCA-49B5-BB8F-7C4D733D65DD}" dt="2026-08-05T08:27:32.347" v="134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Sheikh Ashir" userId="ae06e768-dedc-4b15-9546-cf2c9f82f6b1" providerId="ADAL" clId="{06F3B23A-EFCA-49B5-BB8F-7C4D733D65DD}" dt="2026-08-05T08:27:56.801" v="137" actId="10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Sheikh Ashir" userId="ae06e768-dedc-4b15-9546-cf2c9f82f6b1" providerId="ADAL" clId="{06F3B23A-EFCA-49B5-BB8F-7C4D733D65DD}" dt="2026-08-05T08:26:07.921" v="119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Sheikh Ashir" userId="ae06e768-dedc-4b15-9546-cf2c9f82f6b1" providerId="ADAL" clId="{06F3B23A-EFCA-49B5-BB8F-7C4D733D65DD}" dt="2026-08-05T08:26:26.610" v="132" actId="20577"/>
          <ac:spMkLst>
            <pc:docMk/>
            <pc:sldMk cId="0" sldId="267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57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_GUILD_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537960"/>
            <a:ext cx="112014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836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 Guild · Helm + ArgoCD GitOps runway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60920" y="137160"/>
            <a:ext cx="4389120" cy="4389120"/>
          </a:xfrm>
          <a:prstGeom prst="arc">
            <a:avLst/>
          </a:prstGeom>
          <a:solidFill>
            <a:srgbClr val="0B2545">
              <a:alpha val="0"/>
            </a:srgbClr>
          </a:solidFill>
          <a:ln w="38100">
            <a:solidFill>
              <a:srgbClr val="38BDF8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01000" y="1965960"/>
            <a:ext cx="3931920" cy="3931920"/>
          </a:xfrm>
          <a:prstGeom prst="arc">
            <a:avLst/>
          </a:prstGeom>
          <a:solidFill>
            <a:srgbClr val="0B2545">
              <a:alpha val="0"/>
            </a:srgbClr>
          </a:solidFill>
          <a:ln w="31750">
            <a:solidFill>
              <a:srgbClr val="A78BF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74980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45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Shipping with Helm &amp; ArgoCD</a:t>
            </a:r>
            <a:endParaRPr lang="en-US" sz="4500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6583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>
                <a:solidFill>
                  <a:srgbClr val="D7EAFE"/>
                </a:solidFill>
                <a:latin typeface="Aptos"/>
                <a:ea typeface="Aptos" pitchFamily="34" charset="-122"/>
                <a:cs typeface="Aptos" pitchFamily="34" charset="-120"/>
              </a:rPr>
              <a:t>SA Guild</a:t>
            </a:r>
            <a:endParaRPr lang="en-US" sz="1800">
              <a:latin typeface="Aptos"/>
            </a:endParaRPr>
          </a:p>
          <a:p>
            <a:pPr marL="0" indent="0">
              <a:buNone/>
            </a:pPr>
            <a:r>
              <a:rPr lang="en-US" sz="1800">
                <a:solidFill>
                  <a:srgbClr val="D7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tightened high-level runbook: mental model, two paths, and dev-to-deployment flow.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713232" y="39319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153A66">
              <a:alpha val="90000"/>
            </a:srgbClr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40142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</a:t>
            </a:r>
            <a:endParaRPr lang="en-US" sz="880"/>
          </a:p>
        </p:txBody>
      </p:sp>
      <p:sp>
        <p:nvSpPr>
          <p:cNvPr id="9" name="Shape 7"/>
          <p:cNvSpPr/>
          <p:nvPr/>
        </p:nvSpPr>
        <p:spPr>
          <a:xfrm>
            <a:off x="1920240" y="3931920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153A66">
              <a:alpha val="90000"/>
            </a:srgbClr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40142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ECR</a:t>
            </a:r>
            <a:endParaRPr lang="en-US" sz="880"/>
          </a:p>
        </p:txBody>
      </p:sp>
      <p:sp>
        <p:nvSpPr>
          <p:cNvPr id="11" name="Shape 9"/>
          <p:cNvSpPr/>
          <p:nvPr/>
        </p:nvSpPr>
        <p:spPr>
          <a:xfrm>
            <a:off x="2862072" y="3931920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53A66">
              <a:alpha val="90000"/>
            </a:srgbClr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3512" y="401421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GitLab</a:t>
            </a:r>
            <a:endParaRPr lang="en-US" sz="880"/>
          </a:p>
        </p:txBody>
      </p:sp>
      <p:sp>
        <p:nvSpPr>
          <p:cNvPr id="13" name="Shape 11"/>
          <p:cNvSpPr/>
          <p:nvPr/>
        </p:nvSpPr>
        <p:spPr>
          <a:xfrm>
            <a:off x="3968496" y="393192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153A66">
              <a:alpha val="90000"/>
            </a:srgbClr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59936" y="40142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ArgoCD</a:t>
            </a:r>
            <a:endParaRPr lang="en-US" sz="880"/>
          </a:p>
        </p:txBody>
      </p:sp>
      <p:sp>
        <p:nvSpPr>
          <p:cNvPr id="15" name="Shape 13"/>
          <p:cNvSpPr/>
          <p:nvPr/>
        </p:nvSpPr>
        <p:spPr>
          <a:xfrm>
            <a:off x="5157216" y="3931920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153A66">
              <a:alpha val="90000"/>
            </a:srgbClr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48656" y="40142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</a:t>
            </a:r>
            <a:endParaRPr lang="en-US" sz="880"/>
          </a:p>
        </p:txBody>
      </p:sp>
      <p:sp>
        <p:nvSpPr>
          <p:cNvPr id="17" name="Text 15"/>
          <p:cNvSpPr/>
          <p:nvPr/>
        </p:nvSpPr>
        <p:spPr>
          <a:xfrm>
            <a:off x="685800" y="60807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Development through QA · Staging and Production to follow</a:t>
            </a:r>
            <a:endParaRPr lang="en-US" sz="13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FRAME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SA Guild should care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“new tools.” The goal is a safer release contract that teams can repeat without tribal knowledge.</a:t>
            </a:r>
            <a:endParaRPr lang="en-US" sz="165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886968" y="2478024"/>
            <a:ext cx="278892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steps, environment drift, unclear change history, slow QA promotion, and rollback under pressure.</a:t>
            </a:r>
            <a:endParaRPr lang="en-US" sz="1420"/>
          </a:p>
        </p:txBody>
      </p:sp>
      <p:sp>
        <p:nvSpPr>
          <p:cNvPr id="8" name="Shape 6"/>
          <p:cNvSpPr/>
          <p:nvPr/>
        </p:nvSpPr>
        <p:spPr>
          <a:xfrm>
            <a:off x="4480560" y="18745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DBEAFE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state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4709160" y="2478024"/>
            <a:ext cx="278892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and config follow separate automated paths. Both converge on the same Kubernetes namespace.</a:t>
            </a:r>
            <a:endParaRPr lang="en-US" sz="1420"/>
          </a:p>
        </p:txBody>
      </p:sp>
      <p:sp>
        <p:nvSpPr>
          <p:cNvPr id="11" name="Shape 9"/>
          <p:cNvSpPr/>
          <p:nvPr/>
        </p:nvSpPr>
        <p:spPr>
          <a:xfrm>
            <a:off x="8302752" y="18745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D1FAE5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1352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Guild value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8531352" y="2478024"/>
            <a:ext cx="278892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pattern for auditability, promotion, ownership, and rollback across squads.</a:t>
            </a:r>
            <a:endParaRPr lang="en-US" sz="1420"/>
          </a:p>
        </p:txBody>
      </p:sp>
      <p:sp>
        <p:nvSpPr>
          <p:cNvPr id="14" name="Shape 12"/>
          <p:cNvSpPr/>
          <p:nvPr/>
        </p:nvSpPr>
        <p:spPr>
          <a:xfrm>
            <a:off x="1097280" y="4572000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8448" y="4718304"/>
            <a:ext cx="947318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3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changes: releases become traceable; config becomes reviewable; environments stop drifting quietly.</a:t>
            </a:r>
            <a:endParaRPr lang="en-US" sz="143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1 — The mental model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28016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658368" y="16642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change is either application code or environment/configuration. Each path has one owner and one trigger.</a:t>
            </a:r>
            <a:endParaRPr lang="en-US" sz="1550"/>
          </a:p>
        </p:txBody>
      </p:sp>
      <p:sp>
        <p:nvSpPr>
          <p:cNvPr id="7" name="Shape 5"/>
          <p:cNvSpPr/>
          <p:nvPr/>
        </p:nvSpPr>
        <p:spPr>
          <a:xfrm>
            <a:off x="3136392" y="2743200"/>
            <a:ext cx="202996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36392" y="4160520"/>
            <a:ext cx="202996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0" y="2825496"/>
            <a:ext cx="1170431" cy="630936"/>
          </a:xfrm>
          <a:prstGeom prst="line">
            <a:avLst/>
          </a:prstGeom>
          <a:noFill/>
          <a:ln w="21590">
            <a:solidFill>
              <a:srgbClr val="1E293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267712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43230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pushes source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/ values edited in Git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5166360" y="2267712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0" y="243230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+ restarts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5166360" y="3675888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384048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ArgoCD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renders + applies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8485632" y="29718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D1FAE5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22792" y="313639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namespace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777240" y="5513832"/>
            <a:ext cx="10607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8408" y="5660136"/>
            <a:ext cx="1020470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3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Jenkins owns fresh image rollout. ArgoCD owns Git-declared configuration. The split prevents the two systems from fighting over the same change.</a:t>
            </a:r>
            <a:endParaRPr lang="en-US" sz="143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97A70B84-6578-4056-0638-4310BCFBA300}"/>
              </a:ext>
            </a:extLst>
          </p:cNvPr>
          <p:cNvSpPr/>
          <p:nvPr/>
        </p:nvSpPr>
        <p:spPr>
          <a:xfrm flipV="1">
            <a:off x="7315200" y="3456432"/>
            <a:ext cx="1170431" cy="777240"/>
          </a:xfrm>
          <a:prstGeom prst="line">
            <a:avLst/>
          </a:prstGeom>
          <a:noFill/>
          <a:ln w="21590">
            <a:solidFill>
              <a:srgbClr val="1E293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FLOW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diagram: develop to deployment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 Guild contract: one source of truth for config, one build path for code, one runtime target.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1664208" y="2011678"/>
            <a:ext cx="1170432" cy="1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60520" y="2011680"/>
            <a:ext cx="73152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758952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2011680"/>
            <a:ext cx="822960" cy="82296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8806" y="4187952"/>
            <a:ext cx="1135833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60520" y="4251960"/>
            <a:ext cx="73152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72200" y="4251960"/>
            <a:ext cx="758952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8321040" y="3694176"/>
            <a:ext cx="822960" cy="557784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6036" y="1741479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80136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566928" y="3941064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" y="404164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548640" y="2267712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6280" y="2414468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pushes</a:t>
            </a:r>
            <a:endParaRPr lang="en-US" sz="1080"/>
          </a:p>
          <a:p>
            <a:pPr marL="0" indent="0" algn="ctr">
              <a:buNone/>
            </a:pPr>
            <a:r>
              <a:rPr lang="en-US" sz="108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source</a:t>
            </a:r>
            <a:endParaRPr lang="en-US" sz="1080"/>
          </a:p>
        </p:txBody>
      </p:sp>
      <p:sp>
        <p:nvSpPr>
          <p:cNvPr id="19" name="Shape 17"/>
          <p:cNvSpPr/>
          <p:nvPr/>
        </p:nvSpPr>
        <p:spPr>
          <a:xfrm>
            <a:off x="2834640" y="1627632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71800" y="1792224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</a:t>
            </a:r>
            <a:endParaRPr lang="en-US" sz="1120"/>
          </a:p>
          <a:p>
            <a:pPr marL="0" indent="0" algn="ctr">
              <a:buNone/>
            </a:pPr>
            <a:r>
              <a:rPr lang="en-US" sz="112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</a:t>
            </a:r>
            <a:endParaRPr lang="en-US" sz="1120"/>
          </a:p>
        </p:txBody>
      </p:sp>
      <p:sp>
        <p:nvSpPr>
          <p:cNvPr id="21" name="Shape 19"/>
          <p:cNvSpPr/>
          <p:nvPr/>
        </p:nvSpPr>
        <p:spPr>
          <a:xfrm>
            <a:off x="4892040" y="1627632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79222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ECR</a:t>
            </a:r>
            <a:endParaRPr lang="en-US" sz="1040"/>
          </a:p>
          <a:p>
            <a:pPr marL="0" indent="0" algn="ctr">
              <a:buNone/>
            </a:pPr>
            <a:r>
              <a:rPr lang="en-US" sz="104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+ backup tags</a:t>
            </a:r>
            <a:endParaRPr lang="en-US" sz="1040"/>
          </a:p>
        </p:txBody>
      </p:sp>
      <p:sp>
        <p:nvSpPr>
          <p:cNvPr id="23" name="Shape 21"/>
          <p:cNvSpPr/>
          <p:nvPr/>
        </p:nvSpPr>
        <p:spPr>
          <a:xfrm>
            <a:off x="6931152" y="1627632"/>
            <a:ext cx="13898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68312" y="1792224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</a:t>
            </a:r>
            <a:endParaRPr lang="en-US" sz="1070"/>
          </a:p>
        </p:txBody>
      </p:sp>
      <p:sp>
        <p:nvSpPr>
          <p:cNvPr id="25" name="Shape 23"/>
          <p:cNvSpPr/>
          <p:nvPr/>
        </p:nvSpPr>
        <p:spPr>
          <a:xfrm>
            <a:off x="536036" y="4457247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9772" y="4566975"/>
            <a:ext cx="1143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 edits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/ values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2834640" y="3867912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71800" y="4032504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GitLab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diff</a:t>
            </a:r>
            <a:endParaRPr lang="en-US" sz="1070"/>
          </a:p>
        </p:txBody>
      </p:sp>
      <p:sp>
        <p:nvSpPr>
          <p:cNvPr id="29" name="Shape 27"/>
          <p:cNvSpPr/>
          <p:nvPr/>
        </p:nvSpPr>
        <p:spPr>
          <a:xfrm>
            <a:off x="4892040" y="3867912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40325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ArgoCD</a:t>
            </a:r>
            <a:endParaRPr lang="en-US" sz="1070"/>
          </a:p>
          <a:p>
            <a:pPr marL="0" indent="0" algn="ctr">
              <a:buNone/>
            </a:pPr>
            <a:r>
              <a:rPr lang="en-US" sz="107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watches repo</a:t>
            </a:r>
            <a:endParaRPr lang="en-US" sz="1070"/>
          </a:p>
        </p:txBody>
      </p:sp>
      <p:sp>
        <p:nvSpPr>
          <p:cNvPr id="31" name="Shape 29"/>
          <p:cNvSpPr/>
          <p:nvPr/>
        </p:nvSpPr>
        <p:spPr>
          <a:xfrm>
            <a:off x="6931152" y="3867912"/>
            <a:ext cx="13898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68312" y="4032504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template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apply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9144000" y="2633472"/>
            <a:ext cx="2331720" cy="1188720"/>
          </a:xfrm>
          <a:prstGeom prst="roundRect">
            <a:avLst>
              <a:gd name="adj" fmla="val 6154"/>
            </a:avLst>
          </a:prstGeom>
          <a:solidFill>
            <a:srgbClr val="D1FAE5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281160" y="2798064"/>
            <a:ext cx="2057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Deployment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namespace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Synced + Healthy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2788920" y="2615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image tag · imagePullPolicy: Always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2788920" y="4864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files · values-dev.yaml · selfHeal off</a:t>
            </a:r>
            <a:endParaRPr lang="en-US" sz="85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PATH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2 — Walking the two paths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28016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PATH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 owns application image movement. Git stays unchanged because the deployment still points to the same stable tag.</a:t>
            </a:r>
            <a:endParaRPr lang="en-US" sz="1470"/>
          </a:p>
        </p:txBody>
      </p:sp>
      <p:sp>
        <p:nvSpPr>
          <p:cNvPr id="7" name="Shape 5"/>
          <p:cNvSpPr/>
          <p:nvPr/>
        </p:nvSpPr>
        <p:spPr>
          <a:xfrm>
            <a:off x="2011680" y="2999232"/>
            <a:ext cx="80467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33088" y="2999232"/>
            <a:ext cx="80467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54496" y="2999232"/>
            <a:ext cx="80467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75904" y="2999232"/>
            <a:ext cx="80467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" y="2487168"/>
            <a:ext cx="1389888" cy="1024128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2651760"/>
            <a:ext cx="111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code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trigger build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2816352" y="2487168"/>
            <a:ext cx="131673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53512" y="265176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image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two tags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4937760" y="2487168"/>
            <a:ext cx="131673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265176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7059168" y="2487168"/>
            <a:ext cx="131673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96328" y="265176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 roll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fresh image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9180576" y="2487168"/>
            <a:ext cx="1444752" cy="1024128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17736" y="2651760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ArgoCD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 synced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822960" y="4572000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1560" y="4754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details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051560" y="5175504"/>
            <a:ext cx="4343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Deployment references &lt;image-tag&gt;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Backup image tag: &lt;image-tag&gt;_&lt;commit_ID&gt;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imagePullPolicy: Always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Git diff, so ArgoCD has nothing to sync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6400800" y="4572000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path exists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6629400" y="5175504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tag keeps the rendered manifest byte-identical. Jenkins must restart pods so the cluster pulls the new image behind the tag.</a:t>
            </a:r>
            <a:endParaRPr lang="en-US" sz="132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PATH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2 — Walking the two paths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28016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PATH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ArgoCD owns anything that changes the rendered Kubernetes definition: env vars, ConfigMaps, replicas, templates, values.</a:t>
            </a:r>
            <a:endParaRPr lang="en-US" sz="1470"/>
          </a:p>
        </p:txBody>
      </p:sp>
      <p:sp>
        <p:nvSpPr>
          <p:cNvPr id="7" name="Shape 5"/>
          <p:cNvSpPr/>
          <p:nvPr/>
        </p:nvSpPr>
        <p:spPr>
          <a:xfrm>
            <a:off x="2048256" y="2971800"/>
            <a:ext cx="786384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60520" y="2971800"/>
            <a:ext cx="82296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2971800"/>
            <a:ext cx="7772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94192" y="2971800"/>
            <a:ext cx="749808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" y="2468880"/>
            <a:ext cx="1426464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2633472"/>
            <a:ext cx="1152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chart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values/Config changes in GitLab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2834640" y="24688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71800" y="2633472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GitLab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diff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4983480" y="24688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2633472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ArgoCD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drift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7086600" y="2468880"/>
            <a:ext cx="13075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2633472"/>
            <a:ext cx="103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render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merge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9144000" y="2468880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D1FAE5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81160" y="2633472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Synced + Healthy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822960" y="4572000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1560" y="4754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 here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051560" y="5175504"/>
            <a:ext cx="4343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ConfigMap · Secret references · replicas · service · app.properties · namespace settings · domain / host aliases</a:t>
            </a:r>
            <a:endParaRPr lang="en-US" sz="1320"/>
          </a:p>
        </p:txBody>
      </p:sp>
      <p:sp>
        <p:nvSpPr>
          <p:cNvPr id="24" name="Shape 22"/>
          <p:cNvSpPr/>
          <p:nvPr/>
        </p:nvSpPr>
        <p:spPr>
          <a:xfrm>
            <a:off x="6400800" y="4572000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FEE2E2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Non-negotiable guardrail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6629400" y="5175504"/>
            <a:ext cx="4023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selfHeal remains off in this model so Jenkins restarts and GitOps syncs do not collide on the same Deployment.</a:t>
            </a:r>
            <a:endParaRPr lang="en-US" sz="132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GITLAB CHART LAYOUT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— raw files, watched by </a:t>
            </a:r>
            <a:r>
              <a:rPr lang="en-US" sz="2800" b="1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ArgoCD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development, keep the Helm chart as editable source files. ArgoCD points to repoURL + path and renders the chart directly.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892040" cy="3886200"/>
          </a:xfrm>
          <a:prstGeom prst="roundRect">
            <a:avLst>
              <a:gd name="adj" fmla="val 18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43434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my-app-deploy/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Chart.yaml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values.yaml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values-dev.yaml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files/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app.properties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templates/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├── deployment.yaml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├── service.yaml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app-properties-configmap.yaml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6080760" y="2423160"/>
            <a:ext cx="914400" cy="731520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7804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ArgoCD watches raw files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7178040" y="2816352"/>
            <a:ext cx="41605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diffs for review</a:t>
            </a:r>
            <a:endParaRPr lang="en-US" sz="1450"/>
          </a:p>
          <a:p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In-place edits during iteration</a:t>
            </a:r>
            <a:endParaRPr lang="en-US" sz="1450"/>
          </a:p>
          <a:p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values-dev.yaml supplies dev-specific overlay</a:t>
            </a:r>
            <a:endParaRPr lang="en-US" sz="1450"/>
          </a:p>
          <a:p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app.properties loaded through .Files.Get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6537960" y="4892040"/>
            <a:ext cx="438912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39128" y="5038344"/>
            <a:ext cx="398678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3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 Guild standard: raw chart in Dev/QA; packaged immutable chart for Release.</a:t>
            </a:r>
            <a:endParaRPr lang="en-US" sz="143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3D5877-40DE-8D19-4C2B-7EA5C92014F1}"/>
              </a:ext>
            </a:extLst>
          </p:cNvPr>
          <p:cNvSpPr txBox="1"/>
          <p:nvPr/>
        </p:nvSpPr>
        <p:spPr>
          <a:xfrm>
            <a:off x="7608498" y="836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ownership boundaries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stays reliable only when every tool has a narrow, explicit job.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084832" cy="1078992"/>
          </a:xfrm>
          <a:prstGeom prst="roundRect">
            <a:avLst>
              <a:gd name="adj" fmla="val 6780"/>
            </a:avLst>
          </a:prstGeom>
          <a:solidFill>
            <a:srgbClr val="DBEAFE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Jenkins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image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tags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deployment</a:t>
            </a:r>
            <a:endParaRPr lang="en-US" sz="1220"/>
          </a:p>
        </p:txBody>
      </p:sp>
      <p:sp>
        <p:nvSpPr>
          <p:cNvPr id="8" name="Shape 6"/>
          <p:cNvSpPr/>
          <p:nvPr/>
        </p:nvSpPr>
        <p:spPr>
          <a:xfrm>
            <a:off x="2971800" y="1874520"/>
            <a:ext cx="2084832" cy="1078992"/>
          </a:xfrm>
          <a:prstGeom prst="roundRect">
            <a:avLst>
              <a:gd name="adj" fmla="val 6780"/>
            </a:avLst>
          </a:prstGeom>
          <a:solidFill>
            <a:srgbClr val="CFFAFE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20574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6B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ECR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3200400" y="2478024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stable deployed tag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commit backup tag</a:t>
            </a:r>
            <a:endParaRPr lang="en-US" sz="1220"/>
          </a:p>
        </p:txBody>
      </p:sp>
      <p:sp>
        <p:nvSpPr>
          <p:cNvPr id="11" name="Shape 9"/>
          <p:cNvSpPr/>
          <p:nvPr/>
        </p:nvSpPr>
        <p:spPr>
          <a:xfrm>
            <a:off x="5257800" y="1874520"/>
            <a:ext cx="2084832" cy="1078992"/>
          </a:xfrm>
          <a:prstGeom prst="roundRect">
            <a:avLst>
              <a:gd name="adj" fmla="val 6780"/>
            </a:avLst>
          </a:prstGeom>
          <a:solidFill>
            <a:srgbClr val="EDE9FE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0" y="20574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GitLab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5486400" y="2478024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Helm chart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config diffs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of truth</a:t>
            </a:r>
            <a:endParaRPr lang="en-US" sz="1220"/>
          </a:p>
        </p:txBody>
      </p:sp>
      <p:sp>
        <p:nvSpPr>
          <p:cNvPr id="14" name="Shape 12"/>
          <p:cNvSpPr/>
          <p:nvPr/>
        </p:nvSpPr>
        <p:spPr>
          <a:xfrm>
            <a:off x="7543800" y="1874520"/>
            <a:ext cx="2084832" cy="1078992"/>
          </a:xfrm>
          <a:prstGeom prst="roundRect">
            <a:avLst>
              <a:gd name="adj" fmla="val 6780"/>
            </a:avLst>
          </a:prstGeom>
          <a:solidFill>
            <a:srgbClr val="D1FAE5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20574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ArgoCD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7772400" y="2478024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GitLab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+ apply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health</a:t>
            </a:r>
            <a:endParaRPr lang="en-US" sz="1220"/>
          </a:p>
        </p:txBody>
      </p:sp>
      <p:sp>
        <p:nvSpPr>
          <p:cNvPr id="17" name="Shape 15"/>
          <p:cNvSpPr/>
          <p:nvPr/>
        </p:nvSpPr>
        <p:spPr>
          <a:xfrm>
            <a:off x="9829800" y="1874520"/>
            <a:ext cx="2084832" cy="1078992"/>
          </a:xfrm>
          <a:prstGeom prst="roundRect">
            <a:avLst>
              <a:gd name="adj" fmla="val 6780"/>
            </a:avLst>
          </a:prstGeom>
          <a:solidFill>
            <a:srgbClr val="FEF3C7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0" y="20574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10058400" y="2478024"/>
            <a:ext cx="1627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result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&lt;image-tag&gt;</a:t>
            </a:r>
            <a:endParaRPr lang="en-US" sz="1220"/>
          </a:p>
          <a:p>
            <a:pPr marL="0" indent="0">
              <a:buNone/>
            </a:pPr>
            <a:r>
              <a:rPr lang="en-US" sz="122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pullPolicy Always</a:t>
            </a:r>
            <a:endParaRPr lang="en-US" sz="1220"/>
          </a:p>
        </p:txBody>
      </p:sp>
      <p:sp>
        <p:nvSpPr>
          <p:cNvPr id="20" name="Shape 18"/>
          <p:cNvSpPr/>
          <p:nvPr/>
        </p:nvSpPr>
        <p:spPr>
          <a:xfrm>
            <a:off x="1005840" y="3794760"/>
            <a:ext cx="10058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07008" y="3941064"/>
            <a:ext cx="965606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3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rule: the Deployment is the result every path converges on — not a separate tool that takes independent action.</a:t>
            </a:r>
            <a:endParaRPr lang="en-US" sz="1430"/>
          </a:p>
        </p:txBody>
      </p:sp>
      <p:sp>
        <p:nvSpPr>
          <p:cNvPr id="22" name="Shape 20"/>
          <p:cNvSpPr/>
          <p:nvPr/>
        </p:nvSpPr>
        <p:spPr>
          <a:xfrm>
            <a:off x="2697480" y="5166360"/>
            <a:ext cx="66751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0280" y="5413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system of record for each responsibility prevents conflicting automation.</a:t>
            </a: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CONTRACT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ArgoCD Application wiring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minimum wiring the Guild needs to standardize for Dev.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461772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source: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repoURL: https://gitlab.com/org/my-app-deploy.git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targetRevision: develop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path: .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helm: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valueFiles: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 values-dev.yaml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destination: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server: https://kubernetes.default.svc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namespace: dev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syncPolicy: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automated: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prune: true</a:t>
            </a:r>
            <a:endParaRPr lang="en-US" sz="1140"/>
          </a:p>
          <a:p>
            <a:pPr marL="0" indent="0">
              <a:buNone/>
            </a:pPr>
            <a:r>
              <a:rPr lang="en-US" sz="114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selfHeal: false</a:t>
            </a:r>
            <a:endParaRPr lang="en-US" sz="1140"/>
          </a:p>
        </p:txBody>
      </p:sp>
      <p:sp>
        <p:nvSpPr>
          <p:cNvPr id="7" name="Shape 5"/>
          <p:cNvSpPr/>
          <p:nvPr/>
        </p:nvSpPr>
        <p:spPr>
          <a:xfrm>
            <a:off x="6327648" y="17830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 w="1397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56248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path: .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556248" y="2386584"/>
            <a:ext cx="17830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1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lives at repo root during development.</a:t>
            </a:r>
            <a:endParaRPr lang="en-US" sz="1210"/>
          </a:p>
        </p:txBody>
      </p:sp>
      <p:sp>
        <p:nvSpPr>
          <p:cNvPr id="10" name="Shape 8"/>
          <p:cNvSpPr/>
          <p:nvPr/>
        </p:nvSpPr>
        <p:spPr>
          <a:xfrm>
            <a:off x="8897112" y="17830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 w="1397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25712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valueFiles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9125712" y="2386584"/>
            <a:ext cx="17830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1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overlay merges over base values.yaml.</a:t>
            </a:r>
            <a:endParaRPr lang="en-US" sz="1210"/>
          </a:p>
        </p:txBody>
      </p:sp>
      <p:sp>
        <p:nvSpPr>
          <p:cNvPr id="13" name="Shape 11"/>
          <p:cNvSpPr/>
          <p:nvPr/>
        </p:nvSpPr>
        <p:spPr>
          <a:xfrm>
            <a:off x="6327648" y="333756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D1FAE5"/>
          </a:solidFill>
          <a:ln w="1397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56248" y="3520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prune: true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556248" y="3941064"/>
            <a:ext cx="17830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1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Git resources are deleted from cluster.</a:t>
            </a:r>
            <a:endParaRPr lang="en-US" sz="1210"/>
          </a:p>
        </p:txBody>
      </p:sp>
      <p:sp>
        <p:nvSpPr>
          <p:cNvPr id="16" name="Shape 14"/>
          <p:cNvSpPr/>
          <p:nvPr/>
        </p:nvSpPr>
        <p:spPr>
          <a:xfrm>
            <a:off x="8897112" y="333756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EE2E2"/>
          </a:solidFill>
          <a:ln w="1397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25712" y="3520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selfHeal: false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9125712" y="3941064"/>
            <a:ext cx="17830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1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ArgoCD from undoing Jenkins rollout restarts.</a:t>
            </a:r>
            <a:endParaRPr lang="en-US" sz="1210"/>
          </a:p>
        </p:txBody>
      </p:sp>
      <p:sp>
        <p:nvSpPr>
          <p:cNvPr id="19" name="Shape 17"/>
          <p:cNvSpPr/>
          <p:nvPr/>
        </p:nvSpPr>
        <p:spPr>
          <a:xfrm>
            <a:off x="6327648" y="498348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28816" y="5129784"/>
            <a:ext cx="43982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3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checks: ArgoCD needs GitLab read access; cluster nodes or pods need ECR pull permission.</a:t>
            </a:r>
            <a:endParaRPr lang="en-US" sz="143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DEV TO QA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and QA promotion pattern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Dev/QA is flexible. The artefact that passes QA is the artefact that can be promoted to Release.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2240280" y="2971800"/>
            <a:ext cx="960120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0" y="2971800"/>
            <a:ext cx="960120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69480" y="2971800"/>
            <a:ext cx="960120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1280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DEV/QA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chart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path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200400" y="2304288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D1FAE5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1280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package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.tgz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715000" y="2304288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2468880"/>
            <a:ext cx="1280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 push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8229600" y="2308860"/>
            <a:ext cx="1234440" cy="132588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473452"/>
            <a:ext cx="9601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promote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unchanged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822960" y="461772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48006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command pattern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1051560" y="5221224"/>
            <a:ext cx="4251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8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Bump Chart.yaml version</a:t>
            </a:r>
            <a:endParaRPr lang="en-US" sz="1280"/>
          </a:p>
          <a:p>
            <a:pPr marL="0" indent="0">
              <a:buNone/>
            </a:pPr>
            <a:r>
              <a:rPr lang="en-US" sz="128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helm package ./my-app-deploy</a:t>
            </a:r>
            <a:endParaRPr lang="en-US" sz="1280"/>
          </a:p>
          <a:p>
            <a:pPr marL="0" indent="0">
              <a:buNone/>
            </a:pPr>
            <a:r>
              <a:rPr lang="en-US" sz="128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helm push my-app-1.0.0.tgz oci://registry/charts</a:t>
            </a:r>
            <a:endParaRPr lang="en-US" sz="1280"/>
          </a:p>
        </p:txBody>
      </p:sp>
      <p:sp>
        <p:nvSpPr>
          <p:cNvPr id="22" name="Shape 20"/>
          <p:cNvSpPr/>
          <p:nvPr/>
        </p:nvSpPr>
        <p:spPr>
          <a:xfrm>
            <a:off x="6446520" y="461772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3970">
            <a:solidFill>
              <a:srgbClr val="D7E1EA"/>
            </a:solidFill>
            <a:prstDash val="solid"/>
          </a:ln>
          <a:effectLst>
            <a:outerShdw blurRad="25400" dist="50800" dir="2700000" algn="bl" rotWithShape="0">
              <a:srgbClr val="CBD5E1">
                <a:alpha val="2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0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Rollback pattern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6675120" y="5221224"/>
            <a:ext cx="4023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1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is a version pointer change: set QA back to the previous packaged chart.</a:t>
            </a:r>
            <a:endParaRPr lang="en-US" sz="131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ADOPTABLE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 Guild readiness checklist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the high-level contract before squads start onboarding applications.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1252728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scope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3995928" y="18379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→ QA only; staging/prod come later.</a:t>
            </a:r>
            <a:endParaRPr lang="en-US" sz="1360"/>
          </a:p>
        </p:txBody>
      </p:sp>
      <p:sp>
        <p:nvSpPr>
          <p:cNvPr id="9" name="Shape 7"/>
          <p:cNvSpPr/>
          <p:nvPr/>
        </p:nvSpPr>
        <p:spPr>
          <a:xfrm>
            <a:off x="749808" y="249631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56946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1252728" y="24505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Standardize chart layout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3995928" y="24597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chart files in GitLab; values-dev.yaml overlay.</a:t>
            </a:r>
            <a:endParaRPr lang="en-US" sz="1360"/>
          </a:p>
        </p:txBody>
      </p:sp>
      <p:sp>
        <p:nvSpPr>
          <p:cNvPr id="13" name="Shape 11"/>
          <p:cNvSpPr/>
          <p:nvPr/>
        </p:nvSpPr>
        <p:spPr>
          <a:xfrm>
            <a:off x="749808" y="3118104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319125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1252728" y="30723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 ownership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3995928" y="30815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 for code; ArgoCD for config; Deployment is the target.</a:t>
            </a:r>
            <a:endParaRPr lang="en-US" sz="1360"/>
          </a:p>
        </p:txBody>
      </p:sp>
      <p:sp>
        <p:nvSpPr>
          <p:cNvPr id="17" name="Shape 15"/>
          <p:cNvSpPr/>
          <p:nvPr/>
        </p:nvSpPr>
        <p:spPr>
          <a:xfrm>
            <a:off x="749808" y="373989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381304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/>
          </a:p>
        </p:txBody>
      </p:sp>
      <p:sp>
        <p:nvSpPr>
          <p:cNvPr id="19" name="Text 17"/>
          <p:cNvSpPr/>
          <p:nvPr/>
        </p:nvSpPr>
        <p:spPr>
          <a:xfrm>
            <a:off x="1252728" y="3694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sync policy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3995928" y="37033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prune true, selfHeal false, ignore restart annotation if needed.</a:t>
            </a:r>
            <a:endParaRPr lang="en-US" sz="1360"/>
          </a:p>
        </p:txBody>
      </p:sp>
      <p:sp>
        <p:nvSpPr>
          <p:cNvPr id="21" name="Shape 19"/>
          <p:cNvSpPr/>
          <p:nvPr/>
        </p:nvSpPr>
        <p:spPr>
          <a:xfrm>
            <a:off x="749808" y="43616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" y="443484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1252728" y="4315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 secrets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3995928" y="43251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Kubernetes Secrets and references, not plaintext values.</a:t>
            </a:r>
            <a:endParaRPr lang="en-US" sz="1360"/>
          </a:p>
        </p:txBody>
      </p:sp>
      <p:sp>
        <p:nvSpPr>
          <p:cNvPr id="25" name="Shape 23"/>
          <p:cNvSpPr/>
          <p:nvPr/>
        </p:nvSpPr>
        <p:spPr>
          <a:xfrm>
            <a:off x="749808" y="498348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" y="50566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1252728" y="4937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release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3995928" y="4946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60">
                <a:solidFill>
                  <a:srgbClr val="475569"/>
                </a:solidFill>
                <a:latin typeface="Aptos" pitchFamily="34" charset="0"/>
              </a:rPr>
              <a:t>Post QA, package to .</a:t>
            </a:r>
            <a:r>
              <a:rPr lang="en-US" sz="1360" err="1">
                <a:solidFill>
                  <a:srgbClr val="475569"/>
                </a:solidFill>
                <a:latin typeface="Aptos" pitchFamily="34" charset="0"/>
              </a:rPr>
              <a:t>tgz</a:t>
            </a:r>
            <a:r>
              <a:rPr lang="en-US" sz="1360">
                <a:solidFill>
                  <a:srgbClr val="475569"/>
                </a:solidFill>
                <a:latin typeface="Aptos" pitchFamily="34" charset="0"/>
              </a:rPr>
              <a:t> after it will be added to a Helm repo.</a:t>
            </a:r>
          </a:p>
        </p:txBody>
      </p:sp>
      <p:sp>
        <p:nvSpPr>
          <p:cNvPr id="29" name="Shape 27"/>
          <p:cNvSpPr/>
          <p:nvPr/>
        </p:nvSpPr>
        <p:spPr>
          <a:xfrm>
            <a:off x="960120" y="5669280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61288" y="5815584"/>
            <a:ext cx="965606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3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Guild outcome: a repeatable platform pattern squads can follow without reinventing CI/CD, GitOps, or promotion rules.</a:t>
            </a:r>
            <a:endParaRPr lang="en-US" sz="143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Tight summary for the Guild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split. One source of truth.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2637094" y="3219206"/>
            <a:ext cx="1614865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697480" y="3933990"/>
            <a:ext cx="155448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92240" y="3547872"/>
            <a:ext cx="1691640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423160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587752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changes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Jenkins builds + restarts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868680" y="3657600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changes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GitLab + ArgoCD sync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4251960" y="306324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D1FAE5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22783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Dev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result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8183880" y="3063240"/>
            <a:ext cx="2057400" cy="987552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0" y="322783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960120" y="5440680"/>
            <a:ext cx="10058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61288" y="5586984"/>
            <a:ext cx="9656064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3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practical shift: stop treating deployment as a sequence of manual steps. Treat it as a reviewed, versioned, auditable system.</a:t>
            </a:r>
            <a:endParaRPr lang="en-US" sz="143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DDBA1406E9F0438F50FD49EFBD5FBA" ma:contentTypeVersion="14" ma:contentTypeDescription="Create a new document." ma:contentTypeScope="" ma:versionID="acc06234051e5b9d7834b023d708ec49">
  <xsd:schema xmlns:xsd="http://www.w3.org/2001/XMLSchema" xmlns:xs="http://www.w3.org/2001/XMLSchema" xmlns:p="http://schemas.microsoft.com/office/2006/metadata/properties" xmlns:ns3="34f2d83a-ecb8-4ded-bd7e-c0b31bd46b54" xmlns:ns4="9ae61555-7626-4361-9917-25c658d37be8" targetNamespace="http://schemas.microsoft.com/office/2006/metadata/properties" ma:root="true" ma:fieldsID="87c59705a9c8560249857cb472d52fdd" ns3:_="" ns4:_="">
    <xsd:import namespace="34f2d83a-ecb8-4ded-bd7e-c0b31bd46b54"/>
    <xsd:import namespace="9ae61555-7626-4361-9917-25c658d37be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f2d83a-ecb8-4ded-bd7e-c0b31bd46b5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e61555-7626-4361-9917-25c658d37be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f2d83a-ecb8-4ded-bd7e-c0b31bd46b54" xsi:nil="true"/>
  </documentManagement>
</p:properties>
</file>

<file path=customXml/itemProps1.xml><?xml version="1.0" encoding="utf-8"?>
<ds:datastoreItem xmlns:ds="http://schemas.openxmlformats.org/officeDocument/2006/customXml" ds:itemID="{BA55050E-E00D-453B-9B1D-88768A7DB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2B9812-A8D8-40A2-BAEE-A55A94E20101}">
  <ds:schemaRefs>
    <ds:schemaRef ds:uri="34f2d83a-ecb8-4ded-bd7e-c0b31bd46b54"/>
    <ds:schemaRef ds:uri="9ae61555-7626-4361-9917-25c658d37b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E6ABB40-580E-40AB-88D5-833C7DF35828}">
  <ds:schemaRefs>
    <ds:schemaRef ds:uri="34f2d83a-ecb8-4ded-bd7e-c0b31bd46b54"/>
    <ds:schemaRef ds:uri="9ae61555-7626-4361-9917-25c658d37be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Shipping with Helm &amp; ArgoCD — SA Guild Part 1</dc:title>
  <dc:subject>SA Guild high-level deck based on Helm &amp; ArgoCD runbook</dc:subject>
  <dc:creator>OpenAI</dc:creator>
  <cp:revision>1</cp:revision>
  <dcterms:created xsi:type="dcterms:W3CDTF">2026-08-05T06:11:26Z</dcterms:created>
  <dcterms:modified xsi:type="dcterms:W3CDTF">2026-08-05T08:40:00Z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0x01010082DDBA1406E9F0438F50FD49EFBD5FBA</vt:lpwstr>
  </property>
</Properties>
</file>
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4D579-B903-7A58-EC9A-83F2ED80860A}" v="10" dt="2026-07-22T10:53:05.895"/>
    <p1510:client id="{503B7ED6-D26F-0587-ED32-93A45F8ED289}" v="57" dt="2026-07-21T17:09:32.155"/>
    <p1510:client id="{610FCBB7-17F8-4F9B-B018-2AB931330014}" v="5" dt="2026-07-22T10:51:50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DC93D-C300-4D04-B5FB-F31F478B9513}" type="datetimeFigureOut"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4347D-BF91-4DE0-95B1-77F46ECEF4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cg_template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tcg_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7472"/>
            <a:ext cx="1691640" cy="283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50876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AWS Compute Cost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Optimisation Strategy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21792" y="2788920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8F4F6"/>
                </a:solidFill>
              </a:rPr>
              <a:t>A 90-day, metrics-led model to reduce AWS VM compute cost through visibility, scheduling, right-sizing, dynamic scaling and commercial optimisation.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7406640" y="1463040"/>
            <a:ext cx="3977640" cy="2971800"/>
          </a:xfrm>
          <a:prstGeom prst="roundRect">
            <a:avLst>
              <a:gd name="adj" fmla="val 492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26680" y="178308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7726680" y="1783080"/>
            <a:ext cx="73152" cy="91440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927848" y="19293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E7B"/>
                </a:solidFill>
              </a:rPr>
              <a:t>30–40%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927848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Target compute-cost reduction in 90 days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726680" y="28803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26680" y="2880360"/>
            <a:ext cx="73152" cy="91440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27848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BC3D"/>
                </a:solidFill>
              </a:rPr>
              <a:t>≈50%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927848" y="3410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Validated saving in mcube demo use case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21792" y="60167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Scope: AWS EC2 / VM compute cost across R&amp;D, SaaS and departmental installations.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7726680" y="4800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Not a one-time cleanup — a governed operating model.</a:t>
            </a:r>
            <a:endParaRPr lang="en-US" sz="1350" dirty="0"/>
          </a:p>
        </p:txBody>
      </p:sp>
      <p:pic>
        <p:nvPicPr>
          <p:cNvPr id="17" name="Image 2" descr="/mnt/data/tcg_template_extract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19" name="Text 14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534997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E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Agenda: Cost Optimisation as an Operating Discipline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7373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1737360"/>
            <a:ext cx="73152" cy="914400"/>
          </a:xfrm>
          <a:prstGeom prst="rect">
            <a:avLst/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1883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5BAA"/>
                </a:solidFill>
              </a:rPr>
              <a:t>90 days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5528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Baseline → execution → validated savings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54680" y="17373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154680" y="1737360"/>
            <a:ext cx="73152" cy="91440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355848" y="1883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8E7B"/>
                </a:solidFill>
              </a:rPr>
              <a:t>100%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355848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VM inventory mapped to owner and application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15000" y="17373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715000" y="1737360"/>
            <a:ext cx="73152" cy="914400"/>
          </a:xfrm>
          <a:prstGeom prst="rect">
            <a:avLst/>
          </a:prstGeom>
          <a:solidFill>
            <a:srgbClr val="149E7E"/>
          </a:solidFill>
          <a:ln w="12700">
            <a:solidFill>
              <a:srgbClr val="149E7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916168" y="1883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9E7E"/>
                </a:solidFill>
              </a:rPr>
              <a:t>&gt;80%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916168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Approved actions implemented across eligible environments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75320" y="173736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275320" y="1737360"/>
            <a:ext cx="73152" cy="91440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476488" y="18836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6BC3D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476488" y="2267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6"/>
                </a:solidFill>
              </a:rPr>
              <a:t>Critical incidents caused by optimisation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94360" y="31546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594360" y="3154680"/>
            <a:ext cx="73152" cy="2011680"/>
          </a:xfrm>
          <a:prstGeom prst="rect">
            <a:avLst/>
          </a:prstGeom>
          <a:solidFill>
            <a:srgbClr val="D85140"/>
          </a:solidFill>
          <a:ln w="12700">
            <a:solidFill>
              <a:srgbClr val="D8514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795528" y="331927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Problem to Solve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795528" y="3639312"/>
            <a:ext cx="318211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C3A"/>
                </a:solidFill>
              </a:rPr>
              <a:t>Infrastructure often remains active beyond actual workload demand; some VMs are idle or </a:t>
            </a:r>
            <a:r>
              <a:rPr lang="en-US" sz="1400" dirty="0" err="1">
                <a:solidFill>
                  <a:srgbClr val="1B2C3A"/>
                </a:solidFill>
              </a:rPr>
              <a:t>underutilised</a:t>
            </a:r>
            <a:r>
              <a:rPr lang="en-US" sz="1400" dirty="0">
                <a:solidFill>
                  <a:srgbClr val="1B2C3A"/>
                </a:solidFill>
              </a:rPr>
              <a:t>; fixed worker capacity is kept for intermittent workloads.</a:t>
            </a:r>
            <a:endParaRPr lang="en-US" sz="1400"/>
          </a:p>
        </p:txBody>
      </p:sp>
      <p:sp>
        <p:nvSpPr>
          <p:cNvPr id="27" name="Shape 24"/>
          <p:cNvSpPr/>
          <p:nvPr/>
        </p:nvSpPr>
        <p:spPr>
          <a:xfrm>
            <a:off x="4343400" y="31546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4343400" y="3154680"/>
            <a:ext cx="73152" cy="201168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4544568" y="331927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Strategic Response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4544568" y="3639312"/>
            <a:ext cx="318211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400"/>
              <a:t>Instrument all VMs, classify utilisation, automate non-production runtime, right-size capacity, migrate eligible workloads, optimise load balancers, dynamically scale EKS workloads and apply commitments only after baseline stabilisation.</a:t>
            </a:r>
          </a:p>
        </p:txBody>
      </p:sp>
      <p:sp>
        <p:nvSpPr>
          <p:cNvPr id="31" name="Shape 28"/>
          <p:cNvSpPr/>
          <p:nvPr/>
        </p:nvSpPr>
        <p:spPr>
          <a:xfrm>
            <a:off x="8092440" y="31546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92440" y="3154680"/>
            <a:ext cx="73152" cy="2011680"/>
          </a:xfrm>
          <a:prstGeom prst="rect">
            <a:avLst/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93608" y="3319272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Governance Principle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8293608" y="3639312"/>
            <a:ext cx="3182112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C3A"/>
                </a:solidFill>
              </a:rPr>
              <a:t>Recommendations are evidence-backed; production execution remains owner-approved; savings are verified through AWS billing data.</a:t>
            </a:r>
            <a:endParaRPr lang="en-US" sz="1400"/>
          </a:p>
        </p:txBody>
      </p:sp>
      <p:sp>
        <p:nvSpPr>
          <p:cNvPr id="35" name="Text 32"/>
          <p:cNvSpPr/>
          <p:nvPr/>
        </p:nvSpPr>
        <p:spPr>
          <a:xfrm>
            <a:off x="612648" y="5623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5F6B76"/>
                </a:solidFill>
              </a:rPr>
              <a:t>VM compute only. LLM cost, GPU, storage/ECR and network transfer remain separate optimisation tracks.</a:t>
            </a:r>
            <a:endParaRPr lang="en-US" sz="950" dirty="0"/>
          </a:p>
        </p:txBody>
      </p:sp>
      <p:pic>
        <p:nvPicPr>
          <p:cNvPr id="36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38" name="Text 34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658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E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Model: Observe → Decide → Optimise → Validate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82880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1828800"/>
            <a:ext cx="73152" cy="182880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1993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Observe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5528" y="2313432"/>
            <a:ext cx="17647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C3A"/>
                </a:solidFill>
              </a:rPr>
              <a:t>VorteX agents + AWS inventory capture utilisation, runtime and ownership.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 rot="5400000">
            <a:off x="2779776" y="2578608"/>
            <a:ext cx="109728" cy="201168"/>
          </a:xfrm>
          <a:prstGeom prst="triangle">
            <a:avLst/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2907792" y="182880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2907792" y="1828800"/>
            <a:ext cx="73152" cy="1828800"/>
          </a:xfrm>
          <a:prstGeom prst="rect">
            <a:avLst/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108960" y="1993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Recommend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3108960" y="2313432"/>
            <a:ext cx="17647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C3A"/>
                </a:solidFill>
              </a:rPr>
              <a:t>AWS native insights + custom AI agent identify idle, underutilised and overutilised resources.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rot="5400000">
            <a:off x="5093208" y="2578608"/>
            <a:ext cx="109728" cy="201168"/>
          </a:xfrm>
          <a:prstGeom prst="triangle">
            <a:avLst/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221224" y="182880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5221224" y="1828800"/>
            <a:ext cx="73152" cy="182880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5422392" y="1993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Approve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5422392" y="2313432"/>
            <a:ext cx="17647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C3A"/>
                </a:solidFill>
              </a:rPr>
              <a:t>Application and infrastructure owners validate risk, dependency and change window.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 rot="5400000">
            <a:off x="7406640" y="2578608"/>
            <a:ext cx="109728" cy="201168"/>
          </a:xfrm>
          <a:prstGeom prst="triangle">
            <a:avLst/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7534656" y="182880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7534656" y="1828800"/>
            <a:ext cx="73152" cy="1828800"/>
          </a:xfrm>
          <a:prstGeom prst="rect">
            <a:avLst/>
          </a:prstGeom>
          <a:solidFill>
            <a:srgbClr val="149E7E"/>
          </a:solidFill>
          <a:ln w="12700">
            <a:solidFill>
              <a:srgbClr val="149E7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735824" y="1993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Execute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7735824" y="2313432"/>
            <a:ext cx="17647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Self-service scheduling, right-sizing, consolidation, EKS + OS optimisation, CLB/ELB → NLB shift, Karpenter scaling and RI evaluation.</a:t>
            </a:r>
          </a:p>
        </p:txBody>
      </p:sp>
      <p:sp>
        <p:nvSpPr>
          <p:cNvPr id="26" name="Shape 23"/>
          <p:cNvSpPr/>
          <p:nvPr/>
        </p:nvSpPr>
        <p:spPr>
          <a:xfrm rot="5400000">
            <a:off x="9720072" y="2578608"/>
            <a:ext cx="109728" cy="201168"/>
          </a:xfrm>
          <a:prstGeom prst="triangle">
            <a:avLst/>
          </a:prstGeom>
          <a:solidFill>
            <a:srgbClr val="DDE5EB"/>
          </a:solidFill>
          <a:ln w="12700">
            <a:solidFill>
              <a:srgbClr val="DDE5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9848088" y="182880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5"/>
          <p:cNvSpPr/>
          <p:nvPr/>
        </p:nvSpPr>
        <p:spPr>
          <a:xfrm>
            <a:off x="9848088" y="1828800"/>
            <a:ext cx="73152" cy="1828800"/>
          </a:xfrm>
          <a:prstGeom prst="rect">
            <a:avLst/>
          </a:prstGeom>
          <a:solidFill>
            <a:srgbClr val="071E41"/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10049256" y="199339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Validate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0049256" y="2313432"/>
            <a:ext cx="1764792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B2C3A"/>
                </a:solidFill>
              </a:rPr>
              <a:t>Savings and stability verified through AWS billing, utilisation dashboard and incident tracking.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14400" y="4160520"/>
            <a:ext cx="10332720" cy="1051560"/>
          </a:xfrm>
          <a:prstGeom prst="roundRect">
            <a:avLst>
              <a:gd name="adj" fmla="val 10435"/>
            </a:avLst>
          </a:prstGeom>
          <a:solidFill>
            <a:srgbClr val="F6FBFC"/>
          </a:solidFill>
          <a:ln w="12700">
            <a:solidFill>
              <a:srgbClr val="C9E8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1143000" y="4370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E7B"/>
                </a:solidFill>
              </a:rPr>
              <a:t>Execution Sequence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43000" y="46451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00" b="1"/>
              <a:t>Identify  →  Schedule  →  Right-size  →  Consolidate  →  Migrate / Modernise  →  Dynamically Scale  →  Commercially Commit</a:t>
            </a:r>
          </a:p>
        </p:txBody>
      </p:sp>
      <p:sp>
        <p:nvSpPr>
          <p:cNvPr id="34" name="Text 31"/>
          <p:cNvSpPr/>
          <p:nvPr/>
        </p:nvSpPr>
        <p:spPr>
          <a:xfrm>
            <a:off x="1143000" y="52852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Reserved Instances should be assessed only after idle runtime, oversized capacity and non-optimised platform choices have been addressed.</a:t>
            </a:r>
          </a:p>
        </p:txBody>
      </p:sp>
      <p:pic>
        <p:nvPicPr>
          <p:cNvPr id="35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37" name="Text 33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658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800" b="1"/>
              <a:t>Main Implementation Levers: Operational Control</a:t>
            </a:r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7830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1783080"/>
            <a:ext cx="73152" cy="132588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194767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1. VorteX Visibility</a:t>
            </a:r>
          </a:p>
        </p:txBody>
      </p:sp>
      <p:sp>
        <p:nvSpPr>
          <p:cNvPr id="10" name="Text 7"/>
          <p:cNvSpPr/>
          <p:nvPr/>
        </p:nvSpPr>
        <p:spPr>
          <a:xfrm>
            <a:off x="795528" y="2267712"/>
            <a:ext cx="3090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Deploy agents across AWS VMs to classify idle, underutilised, overutilised and intermittent usage.</a:t>
            </a:r>
          </a:p>
        </p:txBody>
      </p:sp>
      <p:sp>
        <p:nvSpPr>
          <p:cNvPr id="11" name="Shape 8"/>
          <p:cNvSpPr/>
          <p:nvPr/>
        </p:nvSpPr>
        <p:spPr>
          <a:xfrm>
            <a:off x="4434840" y="17830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434840" y="1783080"/>
            <a:ext cx="73152" cy="1325880"/>
          </a:xfrm>
          <a:prstGeom prst="rect">
            <a:avLst/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636008" y="194767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sz="1500" b="1"/>
              <a:t>2. Self-Service </a:t>
            </a:r>
            <a:r>
              <a:rPr lang="en-US" sz="1500" b="1"/>
              <a:t>Grouping</a:t>
            </a:r>
            <a:endParaRPr sz="1500" b="1"/>
          </a:p>
        </p:txBody>
      </p:sp>
      <p:sp>
        <p:nvSpPr>
          <p:cNvPr id="14" name="Text 11"/>
          <p:cNvSpPr/>
          <p:nvPr/>
        </p:nvSpPr>
        <p:spPr>
          <a:xfrm>
            <a:off x="4636008" y="2267712"/>
            <a:ext cx="3090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Enable </a:t>
            </a:r>
            <a:r>
              <a:rPr lang="en-US" sz="1200"/>
              <a:t>grouping</a:t>
            </a:r>
            <a:r>
              <a:rPr sz="1200"/>
              <a:t>, scheduled start/stop and component-level grouping so only required VMs run.</a:t>
            </a:r>
          </a:p>
        </p:txBody>
      </p:sp>
      <p:sp>
        <p:nvSpPr>
          <p:cNvPr id="15" name="Shape 12"/>
          <p:cNvSpPr/>
          <p:nvPr/>
        </p:nvSpPr>
        <p:spPr>
          <a:xfrm>
            <a:off x="8275320" y="178308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275320" y="1783080"/>
            <a:ext cx="73152" cy="1325880"/>
          </a:xfrm>
          <a:prstGeom prst="rect">
            <a:avLst/>
          </a:prstGeom>
          <a:solidFill>
            <a:srgbClr val="149E7E"/>
          </a:solidFill>
          <a:ln w="12700">
            <a:solidFill>
              <a:srgbClr val="149E7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476488" y="194767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3. Right-Size &amp; Consolidate</a:t>
            </a:r>
          </a:p>
        </p:txBody>
      </p:sp>
      <p:sp>
        <p:nvSpPr>
          <p:cNvPr id="18" name="Text 15"/>
          <p:cNvSpPr/>
          <p:nvPr/>
        </p:nvSpPr>
        <p:spPr>
          <a:xfrm>
            <a:off x="8476488" y="2267712"/>
            <a:ext cx="3090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Downsize oversized instances and consolidate compatible workloads onto fewer right-sized hosts.</a:t>
            </a:r>
          </a:p>
        </p:txBody>
      </p:sp>
      <p:sp>
        <p:nvSpPr>
          <p:cNvPr id="19" name="Shape 16"/>
          <p:cNvSpPr/>
          <p:nvPr/>
        </p:nvSpPr>
        <p:spPr>
          <a:xfrm>
            <a:off x="594360" y="352044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94360" y="3520440"/>
            <a:ext cx="73152" cy="132588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795528" y="368503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4. Karpenter Scaling</a:t>
            </a:r>
          </a:p>
        </p:txBody>
      </p:sp>
      <p:sp>
        <p:nvSpPr>
          <p:cNvPr id="22" name="Text 19"/>
          <p:cNvSpPr/>
          <p:nvPr/>
        </p:nvSpPr>
        <p:spPr>
          <a:xfrm>
            <a:off x="795528" y="4005072"/>
            <a:ext cx="3090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Scale EKS worker capacity up/down for native Python, AI/ML and agentic workloads based on demand.</a:t>
            </a:r>
          </a:p>
        </p:txBody>
      </p:sp>
      <p:sp>
        <p:nvSpPr>
          <p:cNvPr id="23" name="Shape 20"/>
          <p:cNvSpPr/>
          <p:nvPr/>
        </p:nvSpPr>
        <p:spPr>
          <a:xfrm>
            <a:off x="4434840" y="3520440"/>
            <a:ext cx="34747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4434840" y="3520440"/>
            <a:ext cx="73152" cy="1325880"/>
          </a:xfrm>
          <a:prstGeom prst="rect">
            <a:avLst/>
          </a:prstGeom>
          <a:solidFill>
            <a:srgbClr val="071E41"/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4636008" y="368503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5. AI Recommendation Layer</a:t>
            </a:r>
          </a:p>
        </p:txBody>
      </p:sp>
      <p:sp>
        <p:nvSpPr>
          <p:cNvPr id="26" name="Text 23"/>
          <p:cNvSpPr/>
          <p:nvPr/>
        </p:nvSpPr>
        <p:spPr>
          <a:xfrm>
            <a:off x="4636008" y="4005072"/>
            <a:ext cx="3090672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200"/>
              <a:t>Use VorteX + AWS signals to rank idle, oversized and overutilised VMs with owner-approved actions.</a:t>
            </a:r>
          </a:p>
        </p:txBody>
      </p:sp>
      <p:sp>
        <p:nvSpPr>
          <p:cNvPr id="27" name="Shape 24"/>
          <p:cNvSpPr/>
          <p:nvPr/>
        </p:nvSpPr>
        <p:spPr>
          <a:xfrm>
            <a:off x="3840480" y="5349240"/>
            <a:ext cx="4480560" cy="713232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3977640" y="556869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Outcome: Cost follows actual demand — not static infrastructure availability.</a:t>
            </a:r>
          </a:p>
        </p:txBody>
      </p:sp>
      <p:pic>
        <p:nvPicPr>
          <p:cNvPr id="29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31" name="Text 27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49145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600" b="1"/>
              <a:t>Main Implementation Levers: Platform &amp; Commercial Actions</a:t>
            </a:r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1783080"/>
            <a:ext cx="73152" cy="164592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194767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6. EKS + OS Optimisation</a:t>
            </a:r>
          </a:p>
        </p:txBody>
      </p:sp>
      <p:sp>
        <p:nvSpPr>
          <p:cNvPr id="10" name="Text 7"/>
          <p:cNvSpPr/>
          <p:nvPr/>
        </p:nvSpPr>
        <p:spPr>
          <a:xfrm>
            <a:off x="795528" y="2267712"/>
            <a:ext cx="313639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100"/>
              <a:t>Move eligible native Kubernetes workloads to EKS and reduce RHEL-based worker dependency where Amazon Linux is sufficient. Draft example indicates ~39% per-instance OS licence saving.</a:t>
            </a:r>
          </a:p>
        </p:txBody>
      </p:sp>
      <p:sp>
        <p:nvSpPr>
          <p:cNvPr id="11" name="Shape 8"/>
          <p:cNvSpPr/>
          <p:nvPr/>
        </p:nvSpPr>
        <p:spPr>
          <a:xfrm>
            <a:off x="4343400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343400" y="1783080"/>
            <a:ext cx="73152" cy="1645920"/>
          </a:xfrm>
          <a:prstGeom prst="rect">
            <a:avLst/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544568" y="194767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7. CLB / ELB → NLB Shift</a:t>
            </a:r>
          </a:p>
        </p:txBody>
      </p:sp>
      <p:sp>
        <p:nvSpPr>
          <p:cNvPr id="14" name="Text 11"/>
          <p:cNvSpPr/>
          <p:nvPr/>
        </p:nvSpPr>
        <p:spPr>
          <a:xfrm>
            <a:off x="4544568" y="2267712"/>
            <a:ext cx="313639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100"/>
              <a:t>Shift suitable traffic from multiple CLBs/ELBs to a consolidated NLB model per environment. Unit saving is modest, but LB consolidation can be material.</a:t>
            </a:r>
          </a:p>
        </p:txBody>
      </p:sp>
      <p:sp>
        <p:nvSpPr>
          <p:cNvPr id="15" name="Shape 12"/>
          <p:cNvSpPr/>
          <p:nvPr/>
        </p:nvSpPr>
        <p:spPr>
          <a:xfrm>
            <a:off x="8092440" y="1783080"/>
            <a:ext cx="35204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092440" y="1783080"/>
            <a:ext cx="73152" cy="164592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293608" y="1947672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 b="1"/>
              <a:t>8. Reserved Instance Strategy</a:t>
            </a:r>
          </a:p>
        </p:txBody>
      </p:sp>
      <p:sp>
        <p:nvSpPr>
          <p:cNvPr id="18" name="Text 15"/>
          <p:cNvSpPr/>
          <p:nvPr/>
        </p:nvSpPr>
        <p:spPr>
          <a:xfrm>
            <a:off x="8293608" y="2267712"/>
            <a:ext cx="313639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100"/>
              <a:t>Commit 1-year or 3-year capacity only for predictable, always-on workloads after scheduling, right-sizing, consolidation and dynamic scaling are complete.</a:t>
            </a:r>
          </a:p>
        </p:txBody>
      </p:sp>
      <p:sp>
        <p:nvSpPr>
          <p:cNvPr id="19" name="Shape 16"/>
          <p:cNvSpPr/>
          <p:nvPr/>
        </p:nvSpPr>
        <p:spPr>
          <a:xfrm>
            <a:off x="594360" y="3886200"/>
            <a:ext cx="11018520" cy="1234440"/>
          </a:xfrm>
          <a:prstGeom prst="roundRect">
            <a:avLst>
              <a:gd name="adj" fmla="val 8889"/>
            </a:avLst>
          </a:prstGeom>
          <a:solidFill>
            <a:srgbClr val="F7FAFC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68680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500" b="1"/>
              <a:t>Implementation Rule: sequence before commitment</a:t>
            </a:r>
          </a:p>
        </p:txBody>
      </p:sp>
      <p:sp>
        <p:nvSpPr>
          <p:cNvPr id="21" name="Text 18"/>
          <p:cNvSpPr/>
          <p:nvPr/>
        </p:nvSpPr>
        <p:spPr>
          <a:xfrm>
            <a:off x="868680" y="44348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00"/>
              <a:t>These are not secondary options. They are core implementation levers, but RI commitment must be the final step so we do not lock in excess capacity.</a:t>
            </a:r>
          </a:p>
        </p:txBody>
      </p:sp>
      <p:sp>
        <p:nvSpPr>
          <p:cNvPr id="22" name="Shape 19"/>
          <p:cNvSpPr/>
          <p:nvPr/>
        </p:nvSpPr>
        <p:spPr>
          <a:xfrm>
            <a:off x="914400" y="5440680"/>
            <a:ext cx="1143000" cy="338328"/>
          </a:xfrm>
          <a:prstGeom prst="roundRect">
            <a:avLst>
              <a:gd name="adj" fmla="val 21622"/>
            </a:avLst>
          </a:prstGeom>
          <a:solidFill>
            <a:srgbClr val="D85140"/>
          </a:solidFill>
          <a:ln w="12700">
            <a:solidFill>
              <a:srgbClr val="D8514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1024128" y="550926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Eliminate</a:t>
            </a:r>
          </a:p>
        </p:txBody>
      </p:sp>
      <p:sp>
        <p:nvSpPr>
          <p:cNvPr id="24" name="Shape 21"/>
          <p:cNvSpPr/>
          <p:nvPr/>
        </p:nvSpPr>
        <p:spPr>
          <a:xfrm>
            <a:off x="2240280" y="5440680"/>
            <a:ext cx="1143000" cy="338328"/>
          </a:xfrm>
          <a:prstGeom prst="roundRect">
            <a:avLst>
              <a:gd name="adj" fmla="val 21622"/>
            </a:avLst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350008" y="5509260"/>
            <a:ext cx="92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Schedule</a:t>
            </a:r>
          </a:p>
        </p:txBody>
      </p:sp>
      <p:sp>
        <p:nvSpPr>
          <p:cNvPr id="26" name="Shape 23"/>
          <p:cNvSpPr/>
          <p:nvPr/>
        </p:nvSpPr>
        <p:spPr>
          <a:xfrm>
            <a:off x="3566160" y="5440680"/>
            <a:ext cx="1234440" cy="338328"/>
          </a:xfrm>
          <a:prstGeom prst="roundRect">
            <a:avLst>
              <a:gd name="adj" fmla="val 21622"/>
            </a:avLst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3675888" y="550926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Right-size</a:t>
            </a:r>
          </a:p>
        </p:txBody>
      </p:sp>
      <p:sp>
        <p:nvSpPr>
          <p:cNvPr id="28" name="Shape 25"/>
          <p:cNvSpPr/>
          <p:nvPr/>
        </p:nvSpPr>
        <p:spPr>
          <a:xfrm>
            <a:off x="4983480" y="5440680"/>
            <a:ext cx="1417320" cy="338328"/>
          </a:xfrm>
          <a:prstGeom prst="roundRect">
            <a:avLst>
              <a:gd name="adj" fmla="val 21622"/>
            </a:avLst>
          </a:prstGeom>
          <a:solidFill>
            <a:srgbClr val="149E7E"/>
          </a:solidFill>
          <a:ln w="12700">
            <a:solidFill>
              <a:srgbClr val="149E7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6"/>
          <p:cNvSpPr/>
          <p:nvPr/>
        </p:nvSpPr>
        <p:spPr>
          <a:xfrm>
            <a:off x="5093208" y="5509260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Consolidate</a:t>
            </a:r>
          </a:p>
        </p:txBody>
      </p:sp>
      <p:sp>
        <p:nvSpPr>
          <p:cNvPr id="30" name="Shape 27"/>
          <p:cNvSpPr/>
          <p:nvPr/>
        </p:nvSpPr>
        <p:spPr>
          <a:xfrm>
            <a:off x="6583680" y="5440680"/>
            <a:ext cx="960120" cy="338328"/>
          </a:xfrm>
          <a:prstGeom prst="roundRect">
            <a:avLst>
              <a:gd name="adj" fmla="val 21622"/>
            </a:avLst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6693408" y="5509260"/>
            <a:ext cx="7406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Modernise</a:t>
            </a:r>
          </a:p>
        </p:txBody>
      </p:sp>
      <p:sp>
        <p:nvSpPr>
          <p:cNvPr id="32" name="Shape 29"/>
          <p:cNvSpPr/>
          <p:nvPr/>
        </p:nvSpPr>
        <p:spPr>
          <a:xfrm>
            <a:off x="7726680" y="5440680"/>
            <a:ext cx="1051560" cy="338328"/>
          </a:xfrm>
          <a:prstGeom prst="roundRect">
            <a:avLst>
              <a:gd name="adj" fmla="val 21622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7836408" y="5509260"/>
            <a:ext cx="832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b="1"/>
              <a:t>Commit</a:t>
            </a:r>
          </a:p>
        </p:txBody>
      </p:sp>
      <p:sp>
        <p:nvSpPr>
          <p:cNvPr id="34" name="Text 31"/>
          <p:cNvSpPr/>
          <p:nvPr/>
        </p:nvSpPr>
        <p:spPr>
          <a:xfrm>
            <a:off x="621792" y="60167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00"/>
              <a:t>Pricing figures are indicative and must be validated through AWS Cost Explorer / Pricing Calculator before financial commitment.</a:t>
            </a:r>
          </a:p>
        </p:txBody>
      </p:sp>
      <p:pic>
        <p:nvPicPr>
          <p:cNvPr id="35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37" name="Text 33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658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E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Scaling and AI-Assisted Recommendations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737360"/>
            <a:ext cx="53035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594360" y="1737360"/>
            <a:ext cx="73152" cy="2560320"/>
          </a:xfrm>
          <a:prstGeom prst="rect">
            <a:avLst/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95528" y="190195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Karpenter for Native Python, AI/ML and Agentic Workloads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5528" y="2236506"/>
            <a:ext cx="491947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300" dirty="0" err="1"/>
              <a:t>Karpenter</a:t>
            </a:r>
            <a:r>
              <a:rPr sz="1300" dirty="0"/>
              <a:t> will dynamically provision EKS worker nodes when native Python, AI/ML or agentic workloads require capacity and consolidate/remove nodes when demand reduces. This avoids permanently running worker nodes for intermittent processing or model execution.</a:t>
            </a:r>
            <a:r>
              <a:rPr lang="en-GB" sz="1300" dirty="0"/>
              <a:t> </a:t>
            </a:r>
            <a:br>
              <a:rPr lang="en-GB" sz="1300" dirty="0"/>
            </a:br>
            <a:r>
              <a:rPr lang="en-GB" sz="1300" dirty="0"/>
              <a:t>Start small, scale only when needed — </a:t>
            </a:r>
            <a:r>
              <a:rPr lang="en-GB" sz="1300" b="1" dirty="0"/>
              <a:t>no over-provisioning </a:t>
            </a:r>
            <a:r>
              <a:rPr lang="en-GB" sz="1300" dirty="0"/>
              <a:t>'just in case'.</a:t>
            </a:r>
            <a:endParaRPr lang="en-US" sz="1300" dirty="0"/>
          </a:p>
          <a:p>
            <a:endParaRPr lang="en-GB" sz="1300" dirty="0"/>
          </a:p>
          <a:p>
            <a:endParaRPr lang="en-US" sz="1300" dirty="0"/>
          </a:p>
          <a:p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737360"/>
            <a:ext cx="53492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143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263640" y="1737360"/>
            <a:ext cx="73152" cy="2560320"/>
          </a:xfrm>
          <a:prstGeom prst="rect">
            <a:avLst/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64808" y="1901952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071E41"/>
                </a:solidFill>
              </a:rPr>
              <a:t>AI-Based Optimisation Agent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64808" y="2221992"/>
            <a:ext cx="496519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sz="1300"/>
              <a:t>Use AWS-native recommendations and a custom AI agent using VorteX + AWS cost signals. The agent will continuously identify idle, underutilised, overutilised and oversized VMs and prepare ranked actions with estimated savings.</a:t>
            </a:r>
          </a:p>
        </p:txBody>
      </p:sp>
      <p:sp>
        <p:nvSpPr>
          <p:cNvPr id="15" name="Shape 12"/>
          <p:cNvSpPr/>
          <p:nvPr/>
        </p:nvSpPr>
        <p:spPr>
          <a:xfrm>
            <a:off x="594360" y="4617720"/>
            <a:ext cx="11018520" cy="841248"/>
          </a:xfrm>
          <a:prstGeom prst="roundRect">
            <a:avLst>
              <a:gd name="adj" fmla="val 13043"/>
            </a:avLst>
          </a:prstGeom>
          <a:solidFill>
            <a:srgbClr val="071E41"/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68680" y="47914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BC3D"/>
                </a:solidFill>
              </a:rPr>
              <a:t>Control Principle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06040" y="4791456"/>
            <a:ext cx="8549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Initial mode is recommendation-only. Production changes require owner validation, dependency assessment and approved change execution.</a:t>
            </a:r>
            <a:endParaRPr lang="en-US" sz="1450" dirty="0"/>
          </a:p>
        </p:txBody>
      </p:sp>
      <p:pic>
        <p:nvPicPr>
          <p:cNvPr id="34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36" name="Text 32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658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E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90-Day Execution Roadmap and Working Metrics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94360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95528" y="2011680"/>
            <a:ext cx="1234440" cy="338328"/>
          </a:xfrm>
          <a:prstGeom prst="roundRect">
            <a:avLst>
              <a:gd name="adj" fmla="val 21622"/>
            </a:avLst>
          </a:prstGeom>
          <a:solidFill>
            <a:srgbClr val="175BAA"/>
          </a:solidFill>
          <a:ln w="12700">
            <a:solidFill>
              <a:srgbClr val="175BAA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905256" y="208026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Weeks 1–3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5528" y="2514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71E41"/>
                </a:solidFill>
              </a:rPr>
              <a:t>Baseline &amp; Visibility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5528" y="29443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C3A"/>
                </a:solidFill>
              </a:rPr>
              <a:t>Complete inventory, owner mapping, VorteX coverage, cost baseline and utilisation classification.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89120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6FBFC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590288" y="2011680"/>
            <a:ext cx="1234440" cy="338328"/>
          </a:xfrm>
          <a:prstGeom prst="roundRect">
            <a:avLst>
              <a:gd name="adj" fmla="val 21622"/>
            </a:avLst>
          </a:prstGeom>
          <a:solidFill>
            <a:srgbClr val="008E7B"/>
          </a:solidFill>
          <a:ln w="12700">
            <a:solidFill>
              <a:srgbClr val="008E7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700016" y="208026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Weeks 4–8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90288" y="2514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71E41"/>
                </a:solidFill>
              </a:rPr>
              <a:t>Optimise &amp; Implement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590288" y="29443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Self-service grouping, scheduling, idle VM removal, right-sizing, consolidation, EKS/OS optimisation, CLB→NLB assessment and first Karpenter workloads.</a:t>
            </a:r>
          </a:p>
        </p:txBody>
      </p:sp>
      <p:sp>
        <p:nvSpPr>
          <p:cNvPr id="17" name="Shape 14"/>
          <p:cNvSpPr/>
          <p:nvPr/>
        </p:nvSpPr>
        <p:spPr>
          <a:xfrm>
            <a:off x="8183880" y="1783080"/>
            <a:ext cx="3429000" cy="2057400"/>
          </a:xfrm>
          <a:prstGeom prst="roundRect">
            <a:avLst>
              <a:gd name="adj" fmla="val 5333"/>
            </a:avLst>
          </a:prstGeom>
          <a:solidFill>
            <a:srgbClr val="FFF9EA"/>
          </a:solidFill>
          <a:ln w="12700">
            <a:solidFill>
              <a:srgbClr val="DD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8385048" y="2011680"/>
            <a:ext cx="1234440" cy="338328"/>
          </a:xfrm>
          <a:prstGeom prst="roundRect">
            <a:avLst>
              <a:gd name="adj" fmla="val 21622"/>
            </a:avLst>
          </a:prstGeom>
          <a:solidFill>
            <a:srgbClr val="F6BC3D"/>
          </a:solidFill>
          <a:ln w="12700">
            <a:solidFill>
              <a:srgbClr val="F6BC3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8494776" y="2080260"/>
            <a:ext cx="1014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E41"/>
                </a:solidFill>
              </a:rPr>
              <a:t>Weeks 9–12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385048" y="2514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71E41"/>
                </a:solidFill>
              </a:rPr>
              <a:t>Scale &amp; Govern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385048" y="29443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/>
              <a:t>Expand to eligible environments, validate savings, publish dashboard, govern recommendations and evaluate RI commitments for stable baseline capacity.</a:t>
            </a:r>
          </a:p>
        </p:txBody>
      </p:sp>
      <p:sp>
        <p:nvSpPr>
          <p:cNvPr id="22" name="Shape 19"/>
          <p:cNvSpPr/>
          <p:nvPr/>
        </p:nvSpPr>
        <p:spPr>
          <a:xfrm>
            <a:off x="594360" y="4343400"/>
            <a:ext cx="11018520" cy="1234440"/>
          </a:xfrm>
          <a:prstGeom prst="roundRect">
            <a:avLst>
              <a:gd name="adj" fmla="val 8889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68680" y="45537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6BC3D"/>
                </a:solidFill>
              </a:rPr>
              <a:t>Monthly Scorecard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4910328"/>
            <a:ext cx="10287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sz="1100" dirty="0"/>
              <a:t>Baseline vs current cost  | idle / </a:t>
            </a:r>
            <a:r>
              <a:rPr sz="1100" dirty="0" err="1"/>
              <a:t>underutilised</a:t>
            </a:r>
            <a:r>
              <a:rPr sz="1100" dirty="0"/>
              <a:t> VMs | non-business-hour runtime | right-sized / consolidated VMs | EKS/OS migrations | CLB→NLB conversions | </a:t>
            </a:r>
            <a:r>
              <a:rPr sz="1100" dirty="0" err="1"/>
              <a:t>Karpenter</a:t>
            </a:r>
            <a:r>
              <a:rPr sz="1100" dirty="0"/>
              <a:t> </a:t>
            </a:r>
            <a:r>
              <a:rPr sz="1100" dirty="0" err="1"/>
              <a:t>utilisation</a:t>
            </a:r>
            <a:r>
              <a:rPr sz="1100" dirty="0"/>
              <a:t> | RI baseline | billing-validated savings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1792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5F6B76"/>
                </a:solidFill>
              </a:rPr>
              <a:t>The roadmap should remain conservative: optimise eligible environments first, prove savings, then scale the model.</a:t>
            </a:r>
            <a:endParaRPr lang="en-US" sz="950" dirty="0"/>
          </a:p>
        </p:txBody>
      </p:sp>
      <p:pic>
        <p:nvPicPr>
          <p:cNvPr id="26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28" name="Text 24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>
                <a:alpha val="0"/>
              </a:srgbClr>
            </a:solidFill>
            <a:prstDash val="solid"/>
          </a:ln>
        </p:spPr>
      </p:sp>
      <p:pic>
        <p:nvPicPr>
          <p:cNvPr id="3" name="Image 0" descr="/mnt/data/tcg_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73152"/>
            <a:ext cx="1508760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" y="6583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E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AWS COST OPTIMISATION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30352" y="89611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71E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Validated Example: mcube Demo Environment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30352" y="1444752"/>
            <a:ext cx="11109960" cy="0"/>
          </a:xfrm>
          <a:prstGeom prst="line">
            <a:avLst/>
          </a:prstGeom>
          <a:noFill/>
          <a:ln w="13970">
            <a:solidFill>
              <a:srgbClr val="008E7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7373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FF3F0"/>
          </a:solidFill>
          <a:ln w="12700">
            <a:solidFill>
              <a:srgbClr val="F3C7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029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5140"/>
                </a:solidFill>
              </a:rPr>
              <a:t>Previous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505456"/>
            <a:ext cx="31546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Kubernetes on RHEL-based EC2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always-on infrastructure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component-level activation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VMs active even when only selected components were required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17720" y="1737360"/>
            <a:ext cx="2926080" cy="2743200"/>
          </a:xfrm>
          <a:prstGeom prst="roundRect">
            <a:avLst>
              <a:gd name="adj" fmla="val 4000"/>
            </a:avLst>
          </a:prstGeom>
          <a:solidFill>
            <a:srgbClr val="F6FBFC"/>
          </a:solidFill>
          <a:ln w="12700">
            <a:solidFill>
              <a:srgbClr val="C9E8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E7B"/>
                </a:solidFill>
              </a:rPr>
              <a:t>Actions Taken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2040" y="2505456"/>
            <a:ext cx="2240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Moved to Amazon EKS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Enabled self-service grouping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only required component groups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B2C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unused component VMs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173736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FF9EA"/>
          </a:solidFill>
          <a:ln w="12700">
            <a:solidFill>
              <a:srgbClr val="F6DB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E41"/>
                </a:solidFill>
              </a:rPr>
              <a:t>Observed Result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01000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6BC3D"/>
                </a:solidFill>
              </a:rPr>
              <a:t>≈50%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028432" y="3063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E41"/>
                </a:solidFill>
              </a:rPr>
              <a:t>compute-cost reduction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28432" y="35204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B2C3A"/>
                </a:solidFill>
              </a:rPr>
              <a:t>Driven by EKS migration, component grouping, selective VM activation and reduced unnecessary runtime.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85800" y="4892040"/>
            <a:ext cx="10652760" cy="777240"/>
          </a:xfrm>
          <a:prstGeom prst="roundRect">
            <a:avLst>
              <a:gd name="adj" fmla="val 14118"/>
            </a:avLst>
          </a:prstGeom>
          <a:solidFill>
            <a:srgbClr val="071E41"/>
          </a:solidFill>
          <a:ln w="12700">
            <a:solidFill>
              <a:srgbClr val="071E41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012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BC3D"/>
                </a:solidFill>
              </a:rPr>
              <a:t>Strategic Relevance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063240" y="511149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Use this as a validated reference pattern — not a flat promise. Apply after assessing architecture, dependencies, usage pattern and risk for each environment.</a:t>
            </a:r>
            <a:endParaRPr lang="en-US" sz="1250" dirty="0"/>
          </a:p>
        </p:txBody>
      </p:sp>
      <p:pic>
        <p:nvPicPr>
          <p:cNvPr id="21" name="Image 1" descr="/mnt/data/tcg_template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83680"/>
            <a:ext cx="12191695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0040" y="6647688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TCG Digital Solutions LLC. Confidential. All Rights Reserved</a:t>
            </a:r>
            <a:endParaRPr lang="en-US" sz="580" dirty="0"/>
          </a:p>
        </p:txBody>
      </p:sp>
      <p:sp>
        <p:nvSpPr>
          <p:cNvPr id="23" name="Text 19"/>
          <p:cNvSpPr/>
          <p:nvPr/>
        </p:nvSpPr>
        <p:spPr>
          <a:xfrm>
            <a:off x="11567160" y="66385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TCG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Compute Cost Optimisation Strategy</dc:title>
  <dc:subject>AWS Compute Cost Optimisation Strategy</dc:subject>
  <dc:creator>TCG Digital</dc:creator>
  <cp:lastModifiedBy>TCG Digital</cp:lastModifiedBy>
  <cp:revision>47</cp:revision>
  <dcterms:created xsi:type="dcterms:W3CDTF">2026-07-21T16:46:22Z</dcterms:created>
  <dcterms:modified xsi:type="dcterms:W3CDTF">2026-07-28T06:25:04Z</dcterms:modified>
</cp:coreProperties>
</file>